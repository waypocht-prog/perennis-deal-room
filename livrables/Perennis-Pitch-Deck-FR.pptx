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960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PROJET CAPSTONE · AI FOR BUSINESS · PSTB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28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0" b="1" i="0">
                <a:solidFill>
                  <a:srgbClr val="F4F1EA"/>
                </a:solidFill>
                <a:latin typeface="Georgia"/>
              </a:rPr>
              <a:t>Pérennis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3375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E2C489"/>
                </a:solidFill>
                <a:latin typeface="Georgia"/>
              </a:rPr>
              <a:t>« Assurer la pérennité des entreprises qui ont fait l'Europe.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029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7A3B6"/>
                </a:solidFill>
                <a:latin typeface="Arial"/>
              </a:rPr>
              <a:t>Une plateforme d'agents d'IA &amp; un conseil M&amp;A pour la transmission d'entreprises en Europe.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7D8A9E"/>
                </a:solidFill>
                <a:latin typeface="Arial"/>
              </a:rPr>
              <a:t>Abdul Gueny Djeirkhanov · Spécialisation AI for Financial Management · Cohorte FR_AI_BIZ#236_FT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Des entreprises saines meurent 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faute d'un successeur.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94760"/>
            <a:ext cx="23941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500 000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dirigeants partent à la retraite (France)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6271" y="3794760"/>
            <a:ext cx="23941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+3 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emplois en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1294" y="3794760"/>
            <a:ext cx="23941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1 sur 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entreprise ne trouve pas de repreneur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6317" y="3794760"/>
            <a:ext cx="23941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42 %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des cessions échouent faute d'acheteur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Sources : DGE (2025) · Banque de France (2024) · Bpifrance Le Lab / Institut Sapiens (2025).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2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LE MARCHÉ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Une vague de transmission,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pour toute une décennie.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94760"/>
            <a:ext cx="32958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370 000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entreprises à céder d'ici 2030 (France)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7946" y="3794760"/>
            <a:ext cx="32958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114 000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fermetures/an faute de successeur (Europe)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54644" y="3794760"/>
            <a:ext cx="32958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≥ 75 000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opérations de transmission par 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Sources : CCI/CMA/CRA + Bpifrance (2024-25) · Eilla / KfW · BPCE L'Observatoire.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3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L'INSIGHT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1732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200" b="1" i="0">
                <a:solidFill>
                  <a:srgbClr val="E2C489"/>
                </a:solidFill>
                <a:latin typeface="Georgia"/>
              </a:rPr>
              <a:t>3×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plus de vendeurs que d'acheteurs.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4348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7A3B6"/>
                </a:solidFill>
                <a:latin typeface="Arial"/>
              </a:rPr>
              <a:t>Le facteur rare n'est pas l'entreprise à vendre.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2000" b="1" i="0">
                <a:solidFill>
                  <a:srgbClr val="F4F1EA"/>
                </a:solidFill>
                <a:latin typeface="Arial"/>
              </a:rPr>
              <a:t>C'est l'acheteur solvable et de confiance.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1">
                <a:solidFill>
                  <a:srgbClr val="E2C489"/>
                </a:solidFill>
                <a:latin typeface="Arial"/>
              </a:rPr>
              <a:t>C'est exactement ce que j'apporte.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LA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Pérennis relie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les deux rives.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3566160"/>
            <a:ext cx="3307994" cy="192024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01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Plateforme d'agents IA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97A3B6"/>
                </a:solidFill>
                <a:latin typeface="Arial"/>
              </a:rPr>
              <a:t>Détecte, qualifie, valorise et met en correspondance — avec un guichet de conformité intégré.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1850" y="3566160"/>
            <a:ext cx="3307994" cy="192024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02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Réseau d'acheteurs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97A3B6"/>
                </a:solidFill>
                <a:latin typeface="Arial"/>
              </a:rPr>
              <a:t>Investisseurs de la CEI et du Moyen-Orient, avec des capitaux, en quête d'une économie stable de l'UE.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2452" y="3566160"/>
            <a:ext cx="3307994" cy="1920240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03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Accompagnement A→Z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97A3B6"/>
                </a:solidFill>
                <a:latin typeface="Arial"/>
              </a:rPr>
              <a:t>Toute la transaction, plus un management de transition pour une reprise sereine.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MON AVANTAGE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« Je suis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le pont.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03320"/>
            <a:ext cx="96926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97A3B6"/>
                </a:solidFill>
                <a:latin typeface="Arial"/>
              </a:rPr>
              <a:t>◆   Réseau et réputation dans les ex-républiques de l'URSS.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97A3B6"/>
                </a:solidFill>
                <a:latin typeface="Arial"/>
              </a:rPr>
              <a:t>◆   Langue russe et compréhension de la culture d'affaires de l'Est.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97A3B6"/>
                </a:solidFill>
                <a:latin typeface="Arial"/>
              </a:rPr>
              <a:t>◆   Liens au Moyen-Orient — des capitaux qui cherchent une terre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COMMENT ÇA 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Sept agents IA. Un fil.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L'humain aux commandes.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3611880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55264" y="3611880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Qualification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3611880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3611880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416552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Due Diligence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4416552"/>
            <a:ext cx="2212848" cy="566928"/>
          </a:xfrm>
          <a:prstGeom prst="roundRect">
            <a:avLst/>
          </a:prstGeom>
          <a:solidFill>
            <a:srgbClr val="152033"/>
          </a:solidFill>
          <a:ln w="17780">
            <a:solidFill>
              <a:srgbClr val="C9A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2C489"/>
                </a:solidFill>
                <a:latin typeface="Arial"/>
              </a:rPr>
              <a:t>Conformité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4416552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Transition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532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B98D"/>
                </a:solidFill>
                <a:latin typeface="Arial"/>
              </a:rPr>
              <a:t>Humain dans la boucle — l'IA prépare, un humain valide chaque décision.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7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LA TECHNOLOGIE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Standard, portable,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hébergée dans l'UE.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INTERFACE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Base44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Application no-code, CRM et fiches cibles.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41699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ORCHESTRATION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n8n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Workflows et agents IA, auto-hébergeable dans l'UE.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0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MOTEUR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Claude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Analyse documentaire et rédaction RU / AR / FR / 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2601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DONNÉES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Pappers · OpenSanctions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Registres d'entreprises et criblage sanctions / PEP.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23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2C489"/>
                </a:solidFill>
                <a:latin typeface="Arial"/>
              </a:rPr>
              <a:t>Relié par MCP — pas de vendor lock-in, données dans l'UE.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8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LE ROI DE L'IA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Une petite équipe,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un pipeline démultiplié.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94760"/>
            <a:ext cx="23941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40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cibles / analyste / mois — manuel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6271" y="3794760"/>
            <a:ext cx="23941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150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cibles / analyste / mois — avec l'IA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1294" y="3794760"/>
            <a:ext cx="23941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×3,7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débit de sourcing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6317" y="3794760"/>
            <a:ext cx="23941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−65 %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coût par cible qualifiée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053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Coût IA au MVP : 300–800 €/mois (API Pappers, tokens Claude, hébergement n8n).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9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LE MODÈLE ÉCONOMIQUE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À maturité 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~50 M€/an de volume.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94760"/>
            <a:ext cx="32958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2,49 M€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produits (success fee + retainer + transition)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7946" y="3794760"/>
            <a:ext cx="32958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0,60 M€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charges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54644" y="3794760"/>
            <a:ext cx="329580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2C489"/>
                </a:solidFill>
                <a:latin typeface="Georgia"/>
              </a:rPr>
              <a:t>1,89 M€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97A3B6"/>
                </a:solidFill>
                <a:latin typeface="Arial"/>
              </a:rPr>
              <a:t>résultat net · marge ~76 %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533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Hypothèses prudentes ; les honoraires de succès sont validés au pilote via les KPI.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10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L'ÉQUIPE ET LA GOUVERNANCE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Agile hybride 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Scrum produit, Kanban deals.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MÉTHODE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Scrum + Kanban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Sprints de 2 semaines pour le produit ; flux continu pour les affaires.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41699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RÔLES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Une équipe de 4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Product Owner, dév no-code, Data/AI Analyst, analyste M&amp;A + conformité externe.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0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RITUELS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Daily · revues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Daily 15 min, Slack et Notion, revue de sprint avec un cédant et un repreneur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2601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DÉPENDANCES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Conformité bloquante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Un deal ne passe en Négociation qu'avec le feu vert conformité (DoD).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23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7A3B6"/>
                </a:solidFill>
                <a:latin typeface="Arial"/>
              </a:rPr>
              <a:t>Pilotage suivi sur un tableau de bord dédié : avancement, budget, coût IA, satisfaction, alertes et actions correctives.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11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LA CONFORMITÉ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« Uniquement des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fonds licites.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7A3B6"/>
                </a:solidFill>
                <a:latin typeface="Arial"/>
              </a:rPr>
              <a:t>Notre conformité n'est pas un frein — c'est un gage de qualité et de confiance.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886200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KYC / LCB-FT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5264" y="3886200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Sanctions &amp; PEP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3886200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Filtrage des IDE (UE)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690872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Confidentialité · 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4690872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RGPD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4690872"/>
            <a:ext cx="2212848" cy="56692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836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Arial"/>
              </a:rPr>
              <a:t>EU AI Act — risque limité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715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FB98D"/>
                </a:solidFill>
                <a:latin typeface="Arial"/>
              </a:rPr>
              <a:t>✓  Objectif : 0 incident de conformité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12 /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8872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1EA"/>
                </a:solidFill>
                <a:latin typeface="Georgia"/>
              </a:rPr>
              <a:t>Deux livrables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1">
                <a:solidFill>
                  <a:srgbClr val="E2C489"/>
                </a:solidFill>
                <a:latin typeface="Georgia"/>
              </a:rPr>
              <a:t>réellement fonctionnels.</a:t>
            </a:r>
          </a:p>
        </p:txBody>
      </p:sp>
      <p:pic>
        <p:nvPicPr>
          <p:cNvPr id="4" name="Picture 3" descr="02-deal-room-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788920"/>
            <a:ext cx="6949440" cy="2533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2788920"/>
            <a:ext cx="31546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Georgia"/>
              </a:rPr>
              <a:t>Agent Radar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97A3B6"/>
                </a:solidFill>
                <a:latin typeface="Arial"/>
              </a:rPr>
              <a:t>Workflow n8n connecté à l'API Pappers : détecte les PME rentables à dirigeant âgé et calcule un score de succession. Exécutable.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800" b="1" i="0">
                <a:solidFill>
                  <a:srgbClr val="F4F1EA"/>
                </a:solidFill>
                <a:latin typeface="Georgia"/>
              </a:rPr>
              <a:t>Pérennis Deal Room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 i="0">
                <a:solidFill>
                  <a:srgbClr val="97A3B6"/>
                </a:solidFill>
                <a:latin typeface="Arial"/>
              </a:rPr>
              <a:t>Cockpit interne : KPI, pipeline des transmissions, fiche cible et guichet de conformité bloquant.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250" b="1" i="0">
                <a:solidFill>
                  <a:srgbClr val="E2C489"/>
                </a:solidFill>
                <a:latin typeface="Arial"/>
              </a:rPr>
              <a:t>Démo vidéo — 3 à 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LA FEUILLE DE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234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4F1EA"/>
                </a:solidFill>
                <a:latin typeface="Georgia"/>
              </a:rPr>
              <a:t>Grande ambition,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E2C489"/>
                </a:solidFill>
                <a:latin typeface="Georgia"/>
              </a:rPr>
              <a:t>rythme réaliste.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PHASE 0 · MOIS 0-6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Fondations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Structure, marque, cadre de conformité, partenaires, MVP.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41699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PHASE 1 · MOIS 6-15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MVP buy-side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Sourcing IA, 2–3 mandats acheteurs, 1ʳᵉ transaction aux mois 9-15.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2150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PHASE 2 · MOIS 15-30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Plateforme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Base sell-side et matching, montée en équipe, adhésion CNCFA.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2601" y="3401568"/>
            <a:ext cx="2407843" cy="2121408"/>
          </a:xfrm>
          <a:prstGeom prst="roundRect">
            <a:avLst/>
          </a:prstGeom>
          <a:solidFill>
            <a:srgbClr val="152033"/>
          </a:solidFill>
          <a:ln w="12700">
            <a:solidFill>
              <a:srgbClr val="2431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20116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455"/>
                </a:solidFill>
                <a:latin typeface="Arial"/>
              </a:rPr>
              <a:t>PHASE 3 · MOIS 30-48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700" b="1" i="0">
                <a:solidFill>
                  <a:srgbClr val="F4F1EA"/>
                </a:solidFill>
                <a:latin typeface="Georgia"/>
              </a:rPr>
              <a:t>Échelle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97A3B6"/>
                </a:solidFill>
                <a:latin typeface="Arial"/>
              </a:rPr>
              <a:t>Données Orbis (UE), réseau de managers de transition, nouveaux marchés.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14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" y="6583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A455"/>
                </a:solidFill>
                <a:latin typeface="Arial"/>
              </a:rPr>
              <a:t>LA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9164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4F1EA"/>
                </a:solidFill>
                <a:latin typeface="Georgia"/>
              </a:rPr>
              <a:t>« Nous sauvons les entreprises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1">
                <a:solidFill>
                  <a:srgbClr val="E2C489"/>
                </a:solidFill>
                <a:latin typeface="Georgia"/>
              </a:rPr>
              <a:t>qui ont fait l'Europe.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3434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7A3B6"/>
                </a:solidFill>
                <a:latin typeface="Arial"/>
              </a:rPr>
              <a:t>L'IA trouve et vérifie · mon réseau apporte les repreneurs · l'humain garde le contrôle.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F4F1EA"/>
                </a:solidFill>
                <a:latin typeface="Arial"/>
              </a:rPr>
              <a:t>De façon rentable, et parfaitement conforme.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2400" b="1" i="1">
                <a:solidFill>
                  <a:srgbClr val="E2C489"/>
                </a:solidFill>
                <a:latin typeface="Georgia"/>
              </a:rPr>
              <a:t>Merci.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A3B6"/>
                </a:solidFill>
                <a:latin typeface="Arial"/>
              </a:rPr>
              <a:t>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A7D"/>
                </a:solidFill>
                <a:latin typeface="Arial"/>
              </a:rPr>
              <a:t>Pérennis · Capstone AI for Business · PSTB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